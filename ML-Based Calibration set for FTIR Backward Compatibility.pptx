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iro Bold" charset="1" panose="00000800000000000000"/>
      <p:regular r:id="rId31"/>
    </p:embeddedFont>
    <p:embeddedFont>
      <p:font typeface="Above the Beyond Script" charset="1" panose="00000500000000000000"/>
      <p:regular r:id="rId32"/>
    </p:embeddedFont>
    <p:embeddedFont>
      <p:font typeface="Open Sans" charset="1" panose="020B0606030504020204"/>
      <p:regular r:id="rId33"/>
    </p:embeddedFont>
    <p:embeddedFont>
      <p:font typeface="Cairo" charset="1" panose="00000500000000000000"/>
      <p:regular r:id="rId34"/>
    </p:embeddedFont>
    <p:embeddedFont>
      <p:font typeface="Open Sans Bold" charset="1" panose="020B0806030504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0.png" Type="http://schemas.openxmlformats.org/officeDocument/2006/relationships/image"/><Relationship Id="rId9" Target="../media/image21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jpeg" Type="http://schemas.openxmlformats.org/officeDocument/2006/relationships/image"/><Relationship Id="rId17" Target="../media/image3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salmaelfeel/" TargetMode="External" Type="http://schemas.openxmlformats.org/officeDocument/2006/relationships/hyperlink"/><Relationship Id="rId11" Target="../media/image51.png" Type="http://schemas.openxmlformats.org/officeDocument/2006/relationships/image"/><Relationship Id="rId12" Target="https://www.linkedin.com/in/rowaina-reda/" TargetMode="External" Type="http://schemas.openxmlformats.org/officeDocument/2006/relationships/hyperlink"/><Relationship Id="rId13" Target="../media/image5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3390">
            <a:off x="-808481" y="351176"/>
            <a:ext cx="17000289" cy="7511037"/>
          </a:xfrm>
          <a:custGeom>
            <a:avLst/>
            <a:gdLst/>
            <a:ahLst/>
            <a:cxnLst/>
            <a:rect r="r" b="b" t="t" l="l"/>
            <a:pathLst>
              <a:path h="7511037" w="17000289">
                <a:moveTo>
                  <a:pt x="0" y="0"/>
                </a:moveTo>
                <a:lnTo>
                  <a:pt x="17000289" y="0"/>
                </a:lnTo>
                <a:lnTo>
                  <a:pt x="17000289" y="7511037"/>
                </a:lnTo>
                <a:lnTo>
                  <a:pt x="0" y="7511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69043">
            <a:off x="-384580" y="4462602"/>
            <a:ext cx="4744596" cy="5477167"/>
          </a:xfrm>
          <a:custGeom>
            <a:avLst/>
            <a:gdLst/>
            <a:ahLst/>
            <a:cxnLst/>
            <a:rect r="r" b="b" t="t" l="l"/>
            <a:pathLst>
              <a:path h="5477167" w="4744596">
                <a:moveTo>
                  <a:pt x="0" y="0"/>
                </a:moveTo>
                <a:lnTo>
                  <a:pt x="4744596" y="0"/>
                </a:lnTo>
                <a:lnTo>
                  <a:pt x="4744596" y="5477167"/>
                </a:lnTo>
                <a:lnTo>
                  <a:pt x="0" y="5477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862096">
            <a:off x="13925270" y="5263643"/>
            <a:ext cx="4302531" cy="4546928"/>
          </a:xfrm>
          <a:custGeom>
            <a:avLst/>
            <a:gdLst/>
            <a:ahLst/>
            <a:cxnLst/>
            <a:rect r="r" b="b" t="t" l="l"/>
            <a:pathLst>
              <a:path h="4546928" w="4302531">
                <a:moveTo>
                  <a:pt x="0" y="0"/>
                </a:moveTo>
                <a:lnTo>
                  <a:pt x="4302531" y="0"/>
                </a:lnTo>
                <a:lnTo>
                  <a:pt x="4302531" y="4546928"/>
                </a:lnTo>
                <a:lnTo>
                  <a:pt x="0" y="4546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14985" y="0"/>
            <a:ext cx="3723102" cy="3648640"/>
          </a:xfrm>
          <a:custGeom>
            <a:avLst/>
            <a:gdLst/>
            <a:ahLst/>
            <a:cxnLst/>
            <a:rect r="r" b="b" t="t" l="l"/>
            <a:pathLst>
              <a:path h="3648640" w="3723102">
                <a:moveTo>
                  <a:pt x="0" y="0"/>
                </a:moveTo>
                <a:lnTo>
                  <a:pt x="3723102" y="0"/>
                </a:lnTo>
                <a:lnTo>
                  <a:pt x="3723102" y="3648640"/>
                </a:lnTo>
                <a:lnTo>
                  <a:pt x="0" y="364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204674">
            <a:off x="-763665" y="-756658"/>
            <a:ext cx="3584730" cy="4523318"/>
          </a:xfrm>
          <a:custGeom>
            <a:avLst/>
            <a:gdLst/>
            <a:ahLst/>
            <a:cxnLst/>
            <a:rect r="r" b="b" t="t" l="l"/>
            <a:pathLst>
              <a:path h="4523318" w="3584730">
                <a:moveTo>
                  <a:pt x="0" y="0"/>
                </a:moveTo>
                <a:lnTo>
                  <a:pt x="3584730" y="0"/>
                </a:lnTo>
                <a:lnTo>
                  <a:pt x="3584730" y="4523318"/>
                </a:lnTo>
                <a:lnTo>
                  <a:pt x="0" y="45233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6400" y="7201185"/>
            <a:ext cx="7315200" cy="447798"/>
          </a:xfrm>
          <a:custGeom>
            <a:avLst/>
            <a:gdLst/>
            <a:ahLst/>
            <a:cxnLst/>
            <a:rect r="r" b="b" t="t" l="l"/>
            <a:pathLst>
              <a:path h="447798" w="7315200">
                <a:moveTo>
                  <a:pt x="0" y="0"/>
                </a:moveTo>
                <a:lnTo>
                  <a:pt x="7315200" y="0"/>
                </a:lnTo>
                <a:lnTo>
                  <a:pt x="7315200" y="447798"/>
                </a:lnTo>
                <a:lnTo>
                  <a:pt x="0" y="447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99532" y="2614838"/>
            <a:ext cx="11954422" cy="403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ML-Bas</a:t>
            </a:r>
            <a:r>
              <a:rPr lang="en-US" sz="7702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ed Calibration set for FTIR Backward Compatibility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08303" y="7241832"/>
            <a:ext cx="347708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2/8/2025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5943" y="2202182"/>
            <a:ext cx="7512397" cy="7781202"/>
          </a:xfrm>
          <a:custGeom>
            <a:avLst/>
            <a:gdLst/>
            <a:ahLst/>
            <a:cxnLst/>
            <a:rect r="r" b="b" t="t" l="l"/>
            <a:pathLst>
              <a:path h="7781202" w="7512397">
                <a:moveTo>
                  <a:pt x="0" y="0"/>
                </a:moveTo>
                <a:lnTo>
                  <a:pt x="7512397" y="0"/>
                </a:lnTo>
                <a:lnTo>
                  <a:pt x="7512397" y="7781203"/>
                </a:lnTo>
                <a:lnTo>
                  <a:pt x="0" y="7781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9585" y="4493544"/>
            <a:ext cx="7315200" cy="447798"/>
          </a:xfrm>
          <a:custGeom>
            <a:avLst/>
            <a:gdLst/>
            <a:ahLst/>
            <a:cxnLst/>
            <a:rect r="r" b="b" t="t" l="l"/>
            <a:pathLst>
              <a:path h="447798" w="7315200">
                <a:moveTo>
                  <a:pt x="0" y="0"/>
                </a:moveTo>
                <a:lnTo>
                  <a:pt x="7315200" y="0"/>
                </a:lnTo>
                <a:lnTo>
                  <a:pt x="7315200" y="447798"/>
                </a:lnTo>
                <a:lnTo>
                  <a:pt x="0" y="447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68300" y="2325467"/>
            <a:ext cx="5751654" cy="189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Agenda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34300" y="3436608"/>
            <a:ext cx="7014040" cy="505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1"/>
              </a:lnSpc>
            </a:pP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1) Introduction</a:t>
            </a:r>
          </a:p>
          <a:p>
            <a:pPr algn="l">
              <a:lnSpc>
                <a:spcPts val="8161"/>
              </a:lnSpc>
            </a:pP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2) Problem Statement</a:t>
            </a:r>
          </a:p>
          <a:p>
            <a:pPr algn="l">
              <a:lnSpc>
                <a:spcPts val="8161"/>
              </a:lnSpc>
            </a:pP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3</a:t>
            </a: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) Project objective</a:t>
            </a:r>
          </a:p>
          <a:p>
            <a:pPr algn="l">
              <a:lnSpc>
                <a:spcPts val="8161"/>
              </a:lnSpc>
            </a:pP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4</a:t>
            </a: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) Scope of work</a:t>
            </a:r>
          </a:p>
          <a:p>
            <a:pPr algn="l">
              <a:lnSpc>
                <a:spcPts val="8161"/>
              </a:lnSpc>
            </a:pPr>
            <a:r>
              <a:rPr lang="en-US" sz="4534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5) Challenges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8130" y="0"/>
            <a:ext cx="13467207" cy="8919897"/>
          </a:xfrm>
          <a:custGeom>
            <a:avLst/>
            <a:gdLst/>
            <a:ahLst/>
            <a:cxnLst/>
            <a:rect r="r" b="b" t="t" l="l"/>
            <a:pathLst>
              <a:path h="8919897" w="13467207">
                <a:moveTo>
                  <a:pt x="0" y="0"/>
                </a:moveTo>
                <a:lnTo>
                  <a:pt x="13467207" y="0"/>
                </a:lnTo>
                <a:lnTo>
                  <a:pt x="13467207" y="8919897"/>
                </a:lnTo>
                <a:lnTo>
                  <a:pt x="0" y="891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" t="0" r="-108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753808" y="5248279"/>
            <a:ext cx="8097230" cy="294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Spectroscopy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Absorbance Technique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 Spectrum</a:t>
            </a: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Spectrometer FTIR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52667" y="4781235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4"/>
                </a:lnTo>
                <a:lnTo>
                  <a:pt x="0" y="314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26697" y="3020474"/>
            <a:ext cx="1039193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6737" y="2681589"/>
            <a:ext cx="9412429" cy="1013685"/>
          </a:xfrm>
          <a:custGeom>
            <a:avLst/>
            <a:gdLst/>
            <a:ahLst/>
            <a:cxnLst/>
            <a:rect r="r" b="b" t="t" l="l"/>
            <a:pathLst>
              <a:path h="1013685" w="9412429">
                <a:moveTo>
                  <a:pt x="0" y="0"/>
                </a:moveTo>
                <a:lnTo>
                  <a:pt x="9412429" y="0"/>
                </a:lnTo>
                <a:lnTo>
                  <a:pt x="9412429" y="1013685"/>
                </a:lnTo>
                <a:lnTo>
                  <a:pt x="0" y="101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915" y="4356496"/>
            <a:ext cx="4110822" cy="4257914"/>
          </a:xfrm>
          <a:custGeom>
            <a:avLst/>
            <a:gdLst/>
            <a:ahLst/>
            <a:cxnLst/>
            <a:rect r="r" b="b" t="t" l="l"/>
            <a:pathLst>
              <a:path h="4257914" w="4110822">
                <a:moveTo>
                  <a:pt x="0" y="0"/>
                </a:moveTo>
                <a:lnTo>
                  <a:pt x="4110822" y="0"/>
                </a:lnTo>
                <a:lnTo>
                  <a:pt x="4110822" y="4257914"/>
                </a:lnTo>
                <a:lnTo>
                  <a:pt x="0" y="425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75188" y="4620896"/>
            <a:ext cx="4477203" cy="4637404"/>
          </a:xfrm>
          <a:custGeom>
            <a:avLst/>
            <a:gdLst/>
            <a:ahLst/>
            <a:cxnLst/>
            <a:rect r="r" b="b" t="t" l="l"/>
            <a:pathLst>
              <a:path h="4637404" w="4477203">
                <a:moveTo>
                  <a:pt x="0" y="0"/>
                </a:moveTo>
                <a:lnTo>
                  <a:pt x="4477202" y="0"/>
                </a:lnTo>
                <a:lnTo>
                  <a:pt x="4477202" y="4637404"/>
                </a:lnTo>
                <a:lnTo>
                  <a:pt x="0" y="46374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2427348" y="3695274"/>
            <a:ext cx="5230574" cy="6612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12903209" y="3695274"/>
            <a:ext cx="3010580" cy="9256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 flipH="true">
            <a:off x="9195288" y="3695274"/>
            <a:ext cx="1779364" cy="9256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4384926" y="4682765"/>
            <a:ext cx="9163621" cy="5446321"/>
            <a:chOff x="0" y="0"/>
            <a:chExt cx="2413464" cy="14344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3464" cy="1434422"/>
            </a:xfrm>
            <a:custGeom>
              <a:avLst/>
              <a:gdLst/>
              <a:ahLst/>
              <a:cxnLst/>
              <a:rect r="r" b="b" t="t" l="l"/>
              <a:pathLst>
                <a:path h="1434422" w="2413464">
                  <a:moveTo>
                    <a:pt x="43088" y="0"/>
                  </a:moveTo>
                  <a:lnTo>
                    <a:pt x="2370377" y="0"/>
                  </a:lnTo>
                  <a:cubicBezTo>
                    <a:pt x="2381804" y="0"/>
                    <a:pt x="2392764" y="4540"/>
                    <a:pt x="2400844" y="12620"/>
                  </a:cubicBezTo>
                  <a:cubicBezTo>
                    <a:pt x="2408924" y="20701"/>
                    <a:pt x="2413464" y="31660"/>
                    <a:pt x="2413464" y="43088"/>
                  </a:cubicBezTo>
                  <a:lnTo>
                    <a:pt x="2413464" y="1391334"/>
                  </a:lnTo>
                  <a:cubicBezTo>
                    <a:pt x="2413464" y="1402762"/>
                    <a:pt x="2408924" y="1413721"/>
                    <a:pt x="2400844" y="1421802"/>
                  </a:cubicBezTo>
                  <a:cubicBezTo>
                    <a:pt x="2392764" y="1429882"/>
                    <a:pt x="2381804" y="1434422"/>
                    <a:pt x="2370377" y="1434422"/>
                  </a:cubicBezTo>
                  <a:lnTo>
                    <a:pt x="43088" y="1434422"/>
                  </a:lnTo>
                  <a:cubicBezTo>
                    <a:pt x="31660" y="1434422"/>
                    <a:pt x="20701" y="1429882"/>
                    <a:pt x="12620" y="1421802"/>
                  </a:cubicBezTo>
                  <a:cubicBezTo>
                    <a:pt x="4540" y="1413721"/>
                    <a:pt x="0" y="1402762"/>
                    <a:pt x="0" y="1391334"/>
                  </a:cubicBezTo>
                  <a:lnTo>
                    <a:pt x="0" y="43088"/>
                  </a:lnTo>
                  <a:cubicBezTo>
                    <a:pt x="0" y="31660"/>
                    <a:pt x="4540" y="20701"/>
                    <a:pt x="12620" y="12620"/>
                  </a:cubicBezTo>
                  <a:cubicBezTo>
                    <a:pt x="20701" y="4540"/>
                    <a:pt x="31660" y="0"/>
                    <a:pt x="430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13464" cy="1472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696779" y="5895096"/>
            <a:ext cx="6668039" cy="3992489"/>
          </a:xfrm>
          <a:custGeom>
            <a:avLst/>
            <a:gdLst/>
            <a:ahLst/>
            <a:cxnLst/>
            <a:rect r="r" b="b" t="t" l="l"/>
            <a:pathLst>
              <a:path h="3992489" w="6668039">
                <a:moveTo>
                  <a:pt x="0" y="0"/>
                </a:moveTo>
                <a:lnTo>
                  <a:pt x="6668040" y="0"/>
                </a:lnTo>
                <a:lnTo>
                  <a:pt x="6668040" y="3992489"/>
                </a:lnTo>
                <a:lnTo>
                  <a:pt x="0" y="39924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26697" y="1046465"/>
            <a:ext cx="10391932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Spectroscopy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96779" y="2895081"/>
            <a:ext cx="88517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the study of the </a:t>
            </a:r>
            <a:r>
              <a:rPr lang="en-US" b="true" sz="3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interaction </a:t>
            </a:r>
            <a:r>
              <a:rPr lang="en-US" sz="3000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between (</a:t>
            </a:r>
            <a:r>
              <a:rPr lang="en-US" b="true" sz="3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EMR</a:t>
            </a:r>
            <a:r>
              <a:rPr lang="en-US" sz="3000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) and </a:t>
            </a:r>
            <a:r>
              <a:rPr lang="en-US" b="true" sz="3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matter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33339" y="4851646"/>
            <a:ext cx="4061949" cy="102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2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Near-IR region</a:t>
            </a:r>
          </a:p>
          <a:p>
            <a:pPr algn="ctr">
              <a:lnSpc>
                <a:spcPts val="4130"/>
              </a:lnSpc>
            </a:pPr>
            <a:r>
              <a:rPr lang="en-US" sz="2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W.L</a:t>
            </a:r>
            <a:r>
              <a:rPr lang="en-US" sz="2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0.78 – 2.5 µm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11454" y="5614170"/>
            <a:ext cx="4004670" cy="259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29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Molecules for powder ingredients with uniform wavelength and homogeneous mixture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211" y="5076825"/>
            <a:ext cx="30542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B20000"/>
                </a:solidFill>
                <a:latin typeface="Open Sans"/>
                <a:ea typeface="Open Sans"/>
                <a:cs typeface="Open Sans"/>
                <a:sym typeface="Open Sans"/>
              </a:rPr>
              <a:t>Absorption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B20000"/>
                </a:solidFill>
                <a:latin typeface="Open Sans"/>
                <a:ea typeface="Open Sans"/>
                <a:cs typeface="Open Sans"/>
                <a:sym typeface="Open Sans"/>
              </a:rPr>
              <a:t>Transmission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Reflection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Scattering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66736" y="5400811"/>
            <a:ext cx="4410375" cy="50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0"/>
              </a:lnSpc>
            </a:pPr>
            <a:r>
              <a:rPr lang="en-US" sz="2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W.N = 4000</a:t>
            </a:r>
            <a:r>
              <a:rPr lang="en-US" sz="29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12800 cm⁻¹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52667" y="2606768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27879"/>
            <a:ext cx="16230600" cy="6130421"/>
          </a:xfrm>
          <a:custGeom>
            <a:avLst/>
            <a:gdLst/>
            <a:ahLst/>
            <a:cxnLst/>
            <a:rect r="r" b="b" t="t" l="l"/>
            <a:pathLst>
              <a:path h="6130421" w="16230600">
                <a:moveTo>
                  <a:pt x="0" y="0"/>
                </a:moveTo>
                <a:lnTo>
                  <a:pt x="16230600" y="0"/>
                </a:lnTo>
                <a:lnTo>
                  <a:pt x="16230600" y="6130421"/>
                </a:lnTo>
                <a:lnTo>
                  <a:pt x="0" y="6130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68678" y="4275329"/>
            <a:ext cx="4552547" cy="3835521"/>
          </a:xfrm>
          <a:custGeom>
            <a:avLst/>
            <a:gdLst/>
            <a:ahLst/>
            <a:cxnLst/>
            <a:rect r="r" b="b" t="t" l="l"/>
            <a:pathLst>
              <a:path h="3835521" w="4552547">
                <a:moveTo>
                  <a:pt x="0" y="0"/>
                </a:moveTo>
                <a:lnTo>
                  <a:pt x="4552547" y="0"/>
                </a:lnTo>
                <a:lnTo>
                  <a:pt x="4552547" y="3835521"/>
                </a:lnTo>
                <a:lnTo>
                  <a:pt x="0" y="38355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48034" y="866775"/>
            <a:ext cx="11708584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Absorbance Technique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8863" y="3928997"/>
            <a:ext cx="9952495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Chemica</a:t>
            </a:r>
            <a:r>
              <a:rPr lang="en-US" sz="3600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l a</a:t>
            </a: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nalyzers use </a:t>
            </a:r>
            <a:r>
              <a:rPr lang="en-US" sz="3600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Beer–Lambert’s law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amount of light absorbed by a substance is proportional to: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Concentration of the substance 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Length of the light path (path length)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18863" y="7620826"/>
            <a:ext cx="4418837" cy="72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8"/>
              </a:lnSpc>
              <a:spcBef>
                <a:spcPct val="0"/>
              </a:spcBef>
            </a:pPr>
            <a:r>
              <a:rPr lang="en-US" b="true" sz="427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A=log10​(1/T)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2632951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3"/>
                </a:lnTo>
                <a:lnTo>
                  <a:pt x="0" y="18330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8035" y="2365217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4"/>
                </a:lnTo>
                <a:lnTo>
                  <a:pt x="0" y="314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507" y="3171735"/>
            <a:ext cx="17794987" cy="6721301"/>
          </a:xfrm>
          <a:custGeom>
            <a:avLst/>
            <a:gdLst/>
            <a:ahLst/>
            <a:cxnLst/>
            <a:rect r="r" b="b" t="t" l="l"/>
            <a:pathLst>
              <a:path h="6721301" w="17794987">
                <a:moveTo>
                  <a:pt x="0" y="0"/>
                </a:moveTo>
                <a:lnTo>
                  <a:pt x="17794986" y="0"/>
                </a:lnTo>
                <a:lnTo>
                  <a:pt x="17794986" y="6721301"/>
                </a:lnTo>
                <a:lnTo>
                  <a:pt x="0" y="67213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08028" y="4654987"/>
            <a:ext cx="6213648" cy="3116622"/>
          </a:xfrm>
          <a:custGeom>
            <a:avLst/>
            <a:gdLst/>
            <a:ahLst/>
            <a:cxnLst/>
            <a:rect r="r" b="b" t="t" l="l"/>
            <a:pathLst>
              <a:path h="3116622" w="6213648">
                <a:moveTo>
                  <a:pt x="0" y="0"/>
                </a:moveTo>
                <a:lnTo>
                  <a:pt x="6213648" y="0"/>
                </a:lnTo>
                <a:lnTo>
                  <a:pt x="6213648" y="3116622"/>
                </a:lnTo>
                <a:lnTo>
                  <a:pt x="0" y="3116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39" r="0" b="-839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4001711" y="364865"/>
            <a:ext cx="2744448" cy="196032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642066" y="336392"/>
            <a:ext cx="1039193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NIR Spectrum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291" y="3949206"/>
            <a:ext cx="11207231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Matters --&gt; molecules linked by chemical bonds, and these bonds are in a constant state of vibration.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Absorption Conditions</a:t>
            </a: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 (Functional Group):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bond must contain hydrogen (such as C–H, O–H).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bond must be asymmetric.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energy (or frequency) we drop must be close to the natural vibrational energy of the bond.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47182" y="7858900"/>
            <a:ext cx="132675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B2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Wave number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68595" y="7074354"/>
            <a:ext cx="4654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B2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Peak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11012130" y="5659392"/>
            <a:ext cx="148881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B2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Transmission 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47182" y="2401385"/>
            <a:ext cx="27444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motion between atoms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3834" y="3182562"/>
            <a:ext cx="17620331" cy="6938159"/>
            <a:chOff x="0" y="0"/>
            <a:chExt cx="4640746" cy="1827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40746" cy="1827334"/>
            </a:xfrm>
            <a:custGeom>
              <a:avLst/>
              <a:gdLst/>
              <a:ahLst/>
              <a:cxnLst/>
              <a:rect r="r" b="b" t="t" l="l"/>
              <a:pathLst>
                <a:path h="1827334" w="4640746">
                  <a:moveTo>
                    <a:pt x="22408" y="0"/>
                  </a:moveTo>
                  <a:lnTo>
                    <a:pt x="4618338" y="0"/>
                  </a:lnTo>
                  <a:cubicBezTo>
                    <a:pt x="4624281" y="0"/>
                    <a:pt x="4629980" y="2361"/>
                    <a:pt x="4634183" y="6563"/>
                  </a:cubicBezTo>
                  <a:cubicBezTo>
                    <a:pt x="4638385" y="10766"/>
                    <a:pt x="4640746" y="16465"/>
                    <a:pt x="4640746" y="22408"/>
                  </a:cubicBezTo>
                  <a:lnTo>
                    <a:pt x="4640746" y="1804926"/>
                  </a:lnTo>
                  <a:cubicBezTo>
                    <a:pt x="4640746" y="1810869"/>
                    <a:pt x="4638385" y="1816569"/>
                    <a:pt x="4634183" y="1820771"/>
                  </a:cubicBezTo>
                  <a:cubicBezTo>
                    <a:pt x="4629980" y="1824973"/>
                    <a:pt x="4624281" y="1827334"/>
                    <a:pt x="4618338" y="1827334"/>
                  </a:cubicBezTo>
                  <a:lnTo>
                    <a:pt x="22408" y="1827334"/>
                  </a:lnTo>
                  <a:cubicBezTo>
                    <a:pt x="16465" y="1827334"/>
                    <a:pt x="10766" y="1824973"/>
                    <a:pt x="6563" y="1820771"/>
                  </a:cubicBezTo>
                  <a:cubicBezTo>
                    <a:pt x="2361" y="1816569"/>
                    <a:pt x="0" y="1810869"/>
                    <a:pt x="0" y="1804926"/>
                  </a:cubicBezTo>
                  <a:lnTo>
                    <a:pt x="0" y="22408"/>
                  </a:lnTo>
                  <a:cubicBezTo>
                    <a:pt x="0" y="16465"/>
                    <a:pt x="2361" y="10766"/>
                    <a:pt x="6563" y="6563"/>
                  </a:cubicBezTo>
                  <a:cubicBezTo>
                    <a:pt x="10766" y="2361"/>
                    <a:pt x="16465" y="0"/>
                    <a:pt x="224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40746" cy="186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552667" y="2295041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92660" y="3593554"/>
            <a:ext cx="5965899" cy="4168672"/>
          </a:xfrm>
          <a:custGeom>
            <a:avLst/>
            <a:gdLst/>
            <a:ahLst/>
            <a:cxnLst/>
            <a:rect r="r" b="b" t="t" l="l"/>
            <a:pathLst>
              <a:path h="4168672" w="5965899">
                <a:moveTo>
                  <a:pt x="0" y="0"/>
                </a:moveTo>
                <a:lnTo>
                  <a:pt x="5965899" y="0"/>
                </a:lnTo>
                <a:lnTo>
                  <a:pt x="5965899" y="4168672"/>
                </a:lnTo>
                <a:lnTo>
                  <a:pt x="0" y="4168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26697" y="568418"/>
            <a:ext cx="1039193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 FTIR Spectrometer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181" y="5483052"/>
            <a:ext cx="6455032" cy="473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8"/>
              </a:lnSpc>
            </a:pPr>
          </a:p>
          <a:p>
            <a:pPr algn="l">
              <a:lnSpc>
                <a:spcPts val="4718"/>
              </a:lnSpc>
            </a:pPr>
            <a:r>
              <a:rPr lang="en-US" sz="3370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Components:</a:t>
            </a:r>
          </a:p>
          <a:p>
            <a:pPr algn="just" marL="727628" indent="-36381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Infrared source</a:t>
            </a:r>
          </a:p>
          <a:p>
            <a:pPr algn="l" marL="727628" indent="-36381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Interferometer</a:t>
            </a:r>
          </a:p>
          <a:p>
            <a:pPr algn="l" marL="727628" indent="-36381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Sample holder</a:t>
            </a:r>
          </a:p>
          <a:p>
            <a:pPr algn="l" marL="727628" indent="-36381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Detector</a:t>
            </a:r>
          </a:p>
          <a:p>
            <a:pPr algn="l" marL="727628" indent="-36381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Fourier Transform software</a:t>
            </a:r>
          </a:p>
          <a:p>
            <a:pPr algn="l">
              <a:lnSpc>
                <a:spcPts val="471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52667" y="6835602"/>
            <a:ext cx="10870850" cy="293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 Why used:</a:t>
            </a:r>
          </a:p>
          <a:p>
            <a:pPr algn="l" marL="727051" indent="-363526" lvl="1">
              <a:lnSpc>
                <a:spcPts val="4714"/>
              </a:lnSpc>
              <a:buFont typeface="Arial"/>
              <a:buChar char="•"/>
            </a:pP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ast (quick)</a:t>
            </a:r>
          </a:p>
          <a:p>
            <a:pPr algn="l" marL="727051" indent="-363526" lvl="1">
              <a:lnSpc>
                <a:spcPts val="4714"/>
              </a:lnSpc>
              <a:buFont typeface="Arial"/>
              <a:buChar char="•"/>
            </a:pP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Does </a:t>
            </a: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not damage the sample (non-destructive)</a:t>
            </a:r>
          </a:p>
          <a:p>
            <a:pPr algn="l" marL="727051" indent="-363526" lvl="1">
              <a:lnSpc>
                <a:spcPts val="4714"/>
              </a:lnSpc>
              <a:buFont typeface="Arial"/>
              <a:buChar char="•"/>
            </a:pP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Accurat</a:t>
            </a: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e in analyzing chemical bonds</a:t>
            </a:r>
          </a:p>
          <a:p>
            <a:pPr algn="l" marL="727051" indent="-363526" lvl="1">
              <a:lnSpc>
                <a:spcPts val="4714"/>
              </a:lnSpc>
              <a:buFont typeface="Arial"/>
              <a:buChar char="•"/>
            </a:pP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W</a:t>
            </a:r>
            <a:r>
              <a:rPr lang="en-US" sz="3367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orks on a variety of conditions.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5721" y="3578687"/>
            <a:ext cx="960416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does not measure frequencies directly; it measures the superposition of signals.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Fourier Transform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1785" y="2724014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44150" y="866775"/>
            <a:ext cx="987526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Problem Statement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7363" y="3557593"/>
            <a:ext cx="16230600" cy="6130421"/>
          </a:xfrm>
          <a:custGeom>
            <a:avLst/>
            <a:gdLst/>
            <a:ahLst/>
            <a:cxnLst/>
            <a:rect r="r" b="b" t="t" l="l"/>
            <a:pathLst>
              <a:path h="6130421" w="16230600">
                <a:moveTo>
                  <a:pt x="0" y="0"/>
                </a:moveTo>
                <a:lnTo>
                  <a:pt x="16230600" y="0"/>
                </a:lnTo>
                <a:lnTo>
                  <a:pt x="16230600" y="6130421"/>
                </a:lnTo>
                <a:lnTo>
                  <a:pt x="0" y="6130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38476" y="4358711"/>
            <a:ext cx="15368374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trike="noStrik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Modern FTIR spectrometers, especially newer or miniaturized models, may produce spectra that differ from older hardware versions.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 marL="777242" indent="-388621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trike="noStrik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These spectral differences create incompatibility across devices.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 marL="777242" indent="-388621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strike="noStrik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This leads to increased calibration costs, time, and complexity when upgrading or deploying multiple spectrometers.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26258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6" y="0"/>
                </a:lnTo>
                <a:lnTo>
                  <a:pt x="5075136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17794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5" y="0"/>
                </a:lnTo>
                <a:lnTo>
                  <a:pt x="5075135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06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6" y="0"/>
                </a:lnTo>
                <a:lnTo>
                  <a:pt x="5075136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7294" y="3064127"/>
            <a:ext cx="1673759" cy="1874883"/>
          </a:xfrm>
          <a:custGeom>
            <a:avLst/>
            <a:gdLst/>
            <a:ahLst/>
            <a:cxnLst/>
            <a:rect r="r" b="b" t="t" l="l"/>
            <a:pathLst>
              <a:path h="1874883" w="1673759">
                <a:moveTo>
                  <a:pt x="0" y="0"/>
                </a:moveTo>
                <a:lnTo>
                  <a:pt x="1673760" y="0"/>
                </a:lnTo>
                <a:lnTo>
                  <a:pt x="1673760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78277" y="3064127"/>
            <a:ext cx="1735119" cy="1874883"/>
          </a:xfrm>
          <a:custGeom>
            <a:avLst/>
            <a:gdLst/>
            <a:ahLst/>
            <a:cxnLst/>
            <a:rect r="r" b="b" t="t" l="l"/>
            <a:pathLst>
              <a:path h="1874883" w="1735119">
                <a:moveTo>
                  <a:pt x="0" y="0"/>
                </a:moveTo>
                <a:lnTo>
                  <a:pt x="1735119" y="0"/>
                </a:lnTo>
                <a:lnTo>
                  <a:pt x="1735119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79222" y="3064127"/>
            <a:ext cx="1769208" cy="1874883"/>
          </a:xfrm>
          <a:custGeom>
            <a:avLst/>
            <a:gdLst/>
            <a:ahLst/>
            <a:cxnLst/>
            <a:rect r="r" b="b" t="t" l="l"/>
            <a:pathLst>
              <a:path h="1874883" w="1769208">
                <a:moveTo>
                  <a:pt x="0" y="0"/>
                </a:moveTo>
                <a:lnTo>
                  <a:pt x="1769208" y="0"/>
                </a:lnTo>
                <a:lnTo>
                  <a:pt x="1769208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12723" y="819150"/>
            <a:ext cx="13262555" cy="184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0"/>
              </a:lnSpc>
            </a:pPr>
            <a:r>
              <a:rPr lang="en-US" sz="108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Project 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7076" y="4862810"/>
            <a:ext cx="4796328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Build ML model (e.g., PLS regression) to predict the concentration of target materials from the spectra.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2838" y="5004017"/>
            <a:ext cx="4855162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Evaluate backward compatibility by measuring prediction bias across spectrometers.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761" y="5004017"/>
            <a:ext cx="4566907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lang="en-US" sz="36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abricate a calibration set consisting of powdered material mixtures (e.g., starch, protein, salt, vitamin C</a:t>
            </a:r>
            <a:r>
              <a:rPr lang="en-US" sz="36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26258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6" y="0"/>
                </a:lnTo>
                <a:lnTo>
                  <a:pt x="5075136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08269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5" y="0"/>
                </a:lnTo>
                <a:lnTo>
                  <a:pt x="5075135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06" y="4001568"/>
            <a:ext cx="5075135" cy="5256732"/>
          </a:xfrm>
          <a:custGeom>
            <a:avLst/>
            <a:gdLst/>
            <a:ahLst/>
            <a:cxnLst/>
            <a:rect r="r" b="b" t="t" l="l"/>
            <a:pathLst>
              <a:path h="5256732" w="5075135">
                <a:moveTo>
                  <a:pt x="0" y="0"/>
                </a:moveTo>
                <a:lnTo>
                  <a:pt x="5075136" y="0"/>
                </a:lnTo>
                <a:lnTo>
                  <a:pt x="5075136" y="5256732"/>
                </a:lnTo>
                <a:lnTo>
                  <a:pt x="0" y="525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7294" y="3064127"/>
            <a:ext cx="1673759" cy="1874883"/>
          </a:xfrm>
          <a:custGeom>
            <a:avLst/>
            <a:gdLst/>
            <a:ahLst/>
            <a:cxnLst/>
            <a:rect r="r" b="b" t="t" l="l"/>
            <a:pathLst>
              <a:path h="1874883" w="1673759">
                <a:moveTo>
                  <a:pt x="0" y="0"/>
                </a:moveTo>
                <a:lnTo>
                  <a:pt x="1673760" y="0"/>
                </a:lnTo>
                <a:lnTo>
                  <a:pt x="1673760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78277" y="3064127"/>
            <a:ext cx="1735119" cy="1874883"/>
          </a:xfrm>
          <a:custGeom>
            <a:avLst/>
            <a:gdLst/>
            <a:ahLst/>
            <a:cxnLst/>
            <a:rect r="r" b="b" t="t" l="l"/>
            <a:pathLst>
              <a:path h="1874883" w="1735119">
                <a:moveTo>
                  <a:pt x="0" y="0"/>
                </a:moveTo>
                <a:lnTo>
                  <a:pt x="1735119" y="0"/>
                </a:lnTo>
                <a:lnTo>
                  <a:pt x="1735119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79222" y="3064127"/>
            <a:ext cx="1769208" cy="1874883"/>
          </a:xfrm>
          <a:custGeom>
            <a:avLst/>
            <a:gdLst/>
            <a:ahLst/>
            <a:cxnLst/>
            <a:rect r="r" b="b" t="t" l="l"/>
            <a:pathLst>
              <a:path h="1874883" w="1769208">
                <a:moveTo>
                  <a:pt x="0" y="0"/>
                </a:moveTo>
                <a:lnTo>
                  <a:pt x="1769208" y="0"/>
                </a:lnTo>
                <a:lnTo>
                  <a:pt x="1769208" y="1874883"/>
                </a:lnTo>
                <a:lnTo>
                  <a:pt x="0" y="18748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8656" y="4939010"/>
            <a:ext cx="4751036" cy="2060600"/>
          </a:xfrm>
          <a:custGeom>
            <a:avLst/>
            <a:gdLst/>
            <a:ahLst/>
            <a:cxnLst/>
            <a:rect r="r" b="b" t="t" l="l"/>
            <a:pathLst>
              <a:path h="2060600" w="4751036">
                <a:moveTo>
                  <a:pt x="0" y="0"/>
                </a:moveTo>
                <a:lnTo>
                  <a:pt x="4751036" y="0"/>
                </a:lnTo>
                <a:lnTo>
                  <a:pt x="4751036" y="2060600"/>
                </a:lnTo>
                <a:lnTo>
                  <a:pt x="0" y="2060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3967" r="0" b="-43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93129" y="4939010"/>
            <a:ext cx="2303446" cy="3965228"/>
          </a:xfrm>
          <a:custGeom>
            <a:avLst/>
            <a:gdLst/>
            <a:ahLst/>
            <a:cxnLst/>
            <a:rect r="r" b="b" t="t" l="l"/>
            <a:pathLst>
              <a:path h="3965228" w="2303446">
                <a:moveTo>
                  <a:pt x="0" y="0"/>
                </a:moveTo>
                <a:lnTo>
                  <a:pt x="2303446" y="0"/>
                </a:lnTo>
                <a:lnTo>
                  <a:pt x="2303446" y="3965228"/>
                </a:lnTo>
                <a:lnTo>
                  <a:pt x="0" y="39652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6481" t="-15447" r="-67094" b="-2604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85502" y="4963879"/>
            <a:ext cx="3256290" cy="4141149"/>
          </a:xfrm>
          <a:custGeom>
            <a:avLst/>
            <a:gdLst/>
            <a:ahLst/>
            <a:cxnLst/>
            <a:rect r="r" b="b" t="t" l="l"/>
            <a:pathLst>
              <a:path h="4141149" w="3256290">
                <a:moveTo>
                  <a:pt x="0" y="0"/>
                </a:moveTo>
                <a:lnTo>
                  <a:pt x="3256290" y="0"/>
                </a:lnTo>
                <a:lnTo>
                  <a:pt x="3256290" y="4141149"/>
                </a:lnTo>
                <a:lnTo>
                  <a:pt x="0" y="41411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899" r="-42507" b="-1015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323955" y="5329535"/>
            <a:ext cx="2877438" cy="3079794"/>
          </a:xfrm>
          <a:custGeom>
            <a:avLst/>
            <a:gdLst/>
            <a:ahLst/>
            <a:cxnLst/>
            <a:rect r="r" b="b" t="t" l="l"/>
            <a:pathLst>
              <a:path h="3079794" w="2877438">
                <a:moveTo>
                  <a:pt x="0" y="0"/>
                </a:moveTo>
                <a:lnTo>
                  <a:pt x="2877439" y="0"/>
                </a:lnTo>
                <a:lnTo>
                  <a:pt x="2877439" y="3079794"/>
                </a:lnTo>
                <a:lnTo>
                  <a:pt x="0" y="30797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60876" r="0" b="-4169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32712" y="5781710"/>
            <a:ext cx="1681386" cy="3135719"/>
          </a:xfrm>
          <a:custGeom>
            <a:avLst/>
            <a:gdLst/>
            <a:ahLst/>
            <a:cxnLst/>
            <a:rect r="r" b="b" t="t" l="l"/>
            <a:pathLst>
              <a:path h="3135719" w="1681386">
                <a:moveTo>
                  <a:pt x="0" y="0"/>
                </a:moveTo>
                <a:lnTo>
                  <a:pt x="1681385" y="0"/>
                </a:lnTo>
                <a:lnTo>
                  <a:pt x="1681385" y="3135719"/>
                </a:lnTo>
                <a:lnTo>
                  <a:pt x="0" y="31357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7009" r="0" b="-924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7298" y="7390135"/>
            <a:ext cx="3090849" cy="1504513"/>
          </a:xfrm>
          <a:custGeom>
            <a:avLst/>
            <a:gdLst/>
            <a:ahLst/>
            <a:cxnLst/>
            <a:rect r="r" b="b" t="t" l="l"/>
            <a:pathLst>
              <a:path h="1504513" w="3090849">
                <a:moveTo>
                  <a:pt x="0" y="0"/>
                </a:moveTo>
                <a:lnTo>
                  <a:pt x="3090849" y="0"/>
                </a:lnTo>
                <a:lnTo>
                  <a:pt x="3090849" y="1504513"/>
                </a:lnTo>
                <a:lnTo>
                  <a:pt x="0" y="15045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220467" r="-10727" b="-17270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12723" y="819150"/>
            <a:ext cx="13262555" cy="184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0"/>
              </a:lnSpc>
            </a:pPr>
            <a:r>
              <a:rPr lang="en-US" sz="108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Project Objectives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8130" y="0"/>
            <a:ext cx="13467207" cy="8919897"/>
          </a:xfrm>
          <a:custGeom>
            <a:avLst/>
            <a:gdLst/>
            <a:ahLst/>
            <a:cxnLst/>
            <a:rect r="r" b="b" t="t" l="l"/>
            <a:pathLst>
              <a:path h="8919897" w="13467207">
                <a:moveTo>
                  <a:pt x="0" y="0"/>
                </a:moveTo>
                <a:lnTo>
                  <a:pt x="13467207" y="0"/>
                </a:lnTo>
                <a:lnTo>
                  <a:pt x="13467207" y="8919897"/>
                </a:lnTo>
                <a:lnTo>
                  <a:pt x="0" y="891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" t="0" r="-1082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753808" y="5248279"/>
            <a:ext cx="8564821" cy="294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LHS of Calibration Sets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Spectral Data Acquisition HW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Preprocessing, Modeling </a:t>
            </a:r>
          </a:p>
          <a:p>
            <a:pPr algn="l" marL="910065" indent="-455033" lvl="1">
              <a:lnSpc>
                <a:spcPts val="5901"/>
              </a:lnSpc>
              <a:buFont typeface="Arial"/>
              <a:buChar char="•"/>
            </a:pPr>
            <a:r>
              <a:rPr lang="en-US" sz="42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Evaluation, PCA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552667" y="4781235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4"/>
                </a:lnTo>
                <a:lnTo>
                  <a:pt x="0" y="3146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26697" y="3020474"/>
            <a:ext cx="1039193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Methodology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8093963" cy="5788410"/>
          </a:xfrm>
          <a:custGeom>
            <a:avLst/>
            <a:gdLst/>
            <a:ahLst/>
            <a:cxnLst/>
            <a:rect r="r" b="b" t="t" l="l"/>
            <a:pathLst>
              <a:path h="5788410" w="8093963">
                <a:moveTo>
                  <a:pt x="0" y="0"/>
                </a:moveTo>
                <a:lnTo>
                  <a:pt x="8093963" y="0"/>
                </a:lnTo>
                <a:lnTo>
                  <a:pt x="8093963" y="5788410"/>
                </a:lnTo>
                <a:lnTo>
                  <a:pt x="0" y="578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LHS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50694" y="2299261"/>
            <a:ext cx="7557878" cy="676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b="true" sz="340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LHS (Latin Hypercube Sampling) is:</a:t>
            </a:r>
          </a:p>
          <a:p>
            <a:pPr algn="l">
              <a:lnSpc>
                <a:spcPts val="4900"/>
              </a:lnSpc>
            </a:pPr>
          </a:p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A statistical sampling method used to efficiently generate combinations of variables that cover the full range of each variable with minimal redundancy.</a:t>
            </a:r>
          </a:p>
          <a:p>
            <a:pPr algn="l">
              <a:lnSpc>
                <a:spcPts val="4900"/>
              </a:lnSpc>
            </a:pPr>
          </a:p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 strike="noStrike" u="none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gives a well-distributed set of mixtures with fewer samples and lower correlation between variables.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056" y="4419090"/>
            <a:ext cx="7035216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b="true" sz="360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Latin Hypercube Sampling (LHS) within the range of 0–10 grams for each of the 20 samples.</a:t>
            </a: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b="true" sz="360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Each is the concentration value for each ingredient (Y label)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7162471" cy="5122252"/>
          </a:xfrm>
          <a:custGeom>
            <a:avLst/>
            <a:gdLst/>
            <a:ahLst/>
            <a:cxnLst/>
            <a:rect r="r" b="b" t="t" l="l"/>
            <a:pathLst>
              <a:path h="5122252" w="7162471">
                <a:moveTo>
                  <a:pt x="0" y="0"/>
                </a:moveTo>
                <a:lnTo>
                  <a:pt x="7162471" y="0"/>
                </a:lnTo>
                <a:lnTo>
                  <a:pt x="7162471" y="5122252"/>
                </a:lnTo>
                <a:lnTo>
                  <a:pt x="0" y="5122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Correlation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43743" y="2850799"/>
            <a:ext cx="7171780" cy="6204334"/>
          </a:xfrm>
          <a:custGeom>
            <a:avLst/>
            <a:gdLst/>
            <a:ahLst/>
            <a:cxnLst/>
            <a:rect r="r" b="b" t="t" l="l"/>
            <a:pathLst>
              <a:path h="6204334" w="7171780">
                <a:moveTo>
                  <a:pt x="0" y="0"/>
                </a:moveTo>
                <a:lnTo>
                  <a:pt x="7171780" y="0"/>
                </a:lnTo>
                <a:lnTo>
                  <a:pt x="7171780" y="6204334"/>
                </a:lnTo>
                <a:lnTo>
                  <a:pt x="0" y="6204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02" t="0" r="-2757" b="-275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83453" y="4093136"/>
            <a:ext cx="5979913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2" indent="-388621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0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Achieved an average inter-variable correlation of approximately 0.29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  <a:p>
            <a:pPr algn="l" marL="777242" indent="-388621" lvl="1">
              <a:lnSpc>
                <a:spcPts val="5040"/>
              </a:lnSpc>
              <a:buFont typeface="Arial"/>
              <a:buChar char="•"/>
            </a:pPr>
            <a:r>
              <a:rPr lang="en-US" b="true" sz="360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Converted grammatic values into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707" y="3472181"/>
            <a:ext cx="8959642" cy="6407501"/>
          </a:xfrm>
          <a:custGeom>
            <a:avLst/>
            <a:gdLst/>
            <a:ahLst/>
            <a:cxnLst/>
            <a:rect r="r" b="b" t="t" l="l"/>
            <a:pathLst>
              <a:path h="6407501" w="8959642">
                <a:moveTo>
                  <a:pt x="0" y="0"/>
                </a:moveTo>
                <a:lnTo>
                  <a:pt x="8959642" y="0"/>
                </a:lnTo>
                <a:lnTo>
                  <a:pt x="8959642" y="6407501"/>
                </a:lnTo>
                <a:lnTo>
                  <a:pt x="0" y="640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30200" y="2083215"/>
            <a:ext cx="6553531" cy="7357657"/>
          </a:xfrm>
          <a:custGeom>
            <a:avLst/>
            <a:gdLst/>
            <a:ahLst/>
            <a:cxnLst/>
            <a:rect r="r" b="b" t="t" l="l"/>
            <a:pathLst>
              <a:path h="7357657" w="6553531">
                <a:moveTo>
                  <a:pt x="0" y="0"/>
                </a:moveTo>
                <a:lnTo>
                  <a:pt x="6553531" y="0"/>
                </a:lnTo>
                <a:lnTo>
                  <a:pt x="6553531" y="7357658"/>
                </a:lnTo>
                <a:lnTo>
                  <a:pt x="0" y="73576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369" r="0" b="-110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10568" y="3910991"/>
            <a:ext cx="6171470" cy="5529882"/>
          </a:xfrm>
          <a:custGeom>
            <a:avLst/>
            <a:gdLst/>
            <a:ahLst/>
            <a:cxnLst/>
            <a:rect r="r" b="b" t="t" l="l"/>
            <a:pathLst>
              <a:path h="5529882" w="6171470">
                <a:moveTo>
                  <a:pt x="0" y="0"/>
                </a:moveTo>
                <a:lnTo>
                  <a:pt x="6171470" y="0"/>
                </a:lnTo>
                <a:lnTo>
                  <a:pt x="6171470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1527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4373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Normalization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668832"/>
            <a:ext cx="6962221" cy="4979043"/>
          </a:xfrm>
          <a:custGeom>
            <a:avLst/>
            <a:gdLst/>
            <a:ahLst/>
            <a:cxnLst/>
            <a:rect r="r" b="b" t="t" l="l"/>
            <a:pathLst>
              <a:path h="4979043" w="6962221">
                <a:moveTo>
                  <a:pt x="0" y="0"/>
                </a:moveTo>
                <a:lnTo>
                  <a:pt x="6962221" y="0"/>
                </a:lnTo>
                <a:lnTo>
                  <a:pt x="6962221" y="4979042"/>
                </a:lnTo>
                <a:lnTo>
                  <a:pt x="0" y="49790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66775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Data Acquisition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9596">
            <a:off x="11336424" y="2255069"/>
            <a:ext cx="5565486" cy="7454383"/>
          </a:xfrm>
          <a:custGeom>
            <a:avLst/>
            <a:gdLst/>
            <a:ahLst/>
            <a:cxnLst/>
            <a:rect r="r" b="b" t="t" l="l"/>
            <a:pathLst>
              <a:path h="7454383" w="5565486">
                <a:moveTo>
                  <a:pt x="0" y="0"/>
                </a:moveTo>
                <a:lnTo>
                  <a:pt x="5565486" y="0"/>
                </a:lnTo>
                <a:lnTo>
                  <a:pt x="5565486" y="7454383"/>
                </a:lnTo>
                <a:lnTo>
                  <a:pt x="0" y="7454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5505" t="0" r="-25062" b="-1988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5765" y="4278491"/>
            <a:ext cx="5979913" cy="368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b="true" sz="4229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Weighed each sample using the sensitive balancing, preserving two decimal floating points.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7254" y="3523264"/>
            <a:ext cx="6876854" cy="4917993"/>
          </a:xfrm>
          <a:custGeom>
            <a:avLst/>
            <a:gdLst/>
            <a:ahLst/>
            <a:cxnLst/>
            <a:rect r="r" b="b" t="t" l="l"/>
            <a:pathLst>
              <a:path h="4917993" w="6876854">
                <a:moveTo>
                  <a:pt x="0" y="0"/>
                </a:moveTo>
                <a:lnTo>
                  <a:pt x="6876855" y="0"/>
                </a:lnTo>
                <a:lnTo>
                  <a:pt x="6876855" y="4917993"/>
                </a:lnTo>
                <a:lnTo>
                  <a:pt x="0" y="49179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8304" y="866775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509896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49287" y="1933220"/>
            <a:ext cx="4560692" cy="3563664"/>
          </a:xfrm>
          <a:custGeom>
            <a:avLst/>
            <a:gdLst/>
            <a:ahLst/>
            <a:cxnLst/>
            <a:rect r="r" b="b" t="t" l="l"/>
            <a:pathLst>
              <a:path h="3563664" w="4560692">
                <a:moveTo>
                  <a:pt x="0" y="0"/>
                </a:moveTo>
                <a:lnTo>
                  <a:pt x="4560692" y="0"/>
                </a:lnTo>
                <a:lnTo>
                  <a:pt x="4560692" y="3563664"/>
                </a:lnTo>
                <a:lnTo>
                  <a:pt x="0" y="35636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9346" t="-11174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82576" y="5496884"/>
            <a:ext cx="5094114" cy="3946536"/>
          </a:xfrm>
          <a:custGeom>
            <a:avLst/>
            <a:gdLst/>
            <a:ahLst/>
            <a:cxnLst/>
            <a:rect r="r" b="b" t="t" l="l"/>
            <a:pathLst>
              <a:path h="3946536" w="5094114">
                <a:moveTo>
                  <a:pt x="0" y="0"/>
                </a:moveTo>
                <a:lnTo>
                  <a:pt x="5094114" y="0"/>
                </a:lnTo>
                <a:lnTo>
                  <a:pt x="5094114" y="3946536"/>
                </a:lnTo>
                <a:lnTo>
                  <a:pt x="0" y="3946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8341" r="0" b="-2073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88645" y="4482655"/>
            <a:ext cx="5657033" cy="291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S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e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al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ed each 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s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mp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le 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in p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la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s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ti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c bags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 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t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o 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ensu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re 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hom</a:t>
            </a:r>
            <a:r>
              <a:rPr lang="en-US" b="true" sz="4170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ogeneity then glass holders.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6742" y="4058023"/>
            <a:ext cx="6605702" cy="4724077"/>
          </a:xfrm>
          <a:custGeom>
            <a:avLst/>
            <a:gdLst/>
            <a:ahLst/>
            <a:cxnLst/>
            <a:rect r="r" b="b" t="t" l="l"/>
            <a:pathLst>
              <a:path h="4724077" w="6605702">
                <a:moveTo>
                  <a:pt x="0" y="0"/>
                </a:moveTo>
                <a:lnTo>
                  <a:pt x="6605701" y="0"/>
                </a:lnTo>
                <a:lnTo>
                  <a:pt x="6605701" y="4724078"/>
                </a:lnTo>
                <a:lnTo>
                  <a:pt x="0" y="4724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21207" y="684918"/>
            <a:ext cx="9270373" cy="9602082"/>
          </a:xfrm>
          <a:custGeom>
            <a:avLst/>
            <a:gdLst/>
            <a:ahLst/>
            <a:cxnLst/>
            <a:rect r="r" b="b" t="t" l="l"/>
            <a:pathLst>
              <a:path h="9602082" w="9270373">
                <a:moveTo>
                  <a:pt x="0" y="0"/>
                </a:moveTo>
                <a:lnTo>
                  <a:pt x="9270373" y="0"/>
                </a:lnTo>
                <a:lnTo>
                  <a:pt x="9270373" y="9602082"/>
                </a:lnTo>
                <a:lnTo>
                  <a:pt x="0" y="9602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37308" y="1966132"/>
            <a:ext cx="7666870" cy="7666870"/>
          </a:xfrm>
          <a:custGeom>
            <a:avLst/>
            <a:gdLst/>
            <a:ahLst/>
            <a:cxnLst/>
            <a:rect r="r" b="b" t="t" l="l"/>
            <a:pathLst>
              <a:path h="7666870" w="7666870">
                <a:moveTo>
                  <a:pt x="0" y="0"/>
                </a:moveTo>
                <a:lnTo>
                  <a:pt x="7666870" y="0"/>
                </a:lnTo>
                <a:lnTo>
                  <a:pt x="7666870" y="7666870"/>
                </a:lnTo>
                <a:lnTo>
                  <a:pt x="0" y="7666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38096" y="1343500"/>
            <a:ext cx="2221204" cy="4142459"/>
          </a:xfrm>
          <a:custGeom>
            <a:avLst/>
            <a:gdLst/>
            <a:ahLst/>
            <a:cxnLst/>
            <a:rect r="r" b="b" t="t" l="l"/>
            <a:pathLst>
              <a:path h="4142459" w="2221204">
                <a:moveTo>
                  <a:pt x="0" y="0"/>
                </a:moveTo>
                <a:lnTo>
                  <a:pt x="2221204" y="0"/>
                </a:lnTo>
                <a:lnTo>
                  <a:pt x="2221204" y="4142459"/>
                </a:lnTo>
                <a:lnTo>
                  <a:pt x="0" y="4142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009" r="0" b="-924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38529" y="4732385"/>
            <a:ext cx="4391155" cy="329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0"/>
              </a:lnSpc>
            </a:pPr>
            <a:r>
              <a:rPr lang="en-US" b="true" sz="3743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Applied</a:t>
            </a:r>
            <a:r>
              <a:rPr lang="en-US" b="true" sz="3743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 each sample to the reference spectrometer to obtain spectral data (X label)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6954151" cy="4973272"/>
          </a:xfrm>
          <a:custGeom>
            <a:avLst/>
            <a:gdLst/>
            <a:ahLst/>
            <a:cxnLst/>
            <a:rect r="r" b="b" t="t" l="l"/>
            <a:pathLst>
              <a:path h="4973272" w="6954151">
                <a:moveTo>
                  <a:pt x="0" y="0"/>
                </a:moveTo>
                <a:lnTo>
                  <a:pt x="6954151" y="0"/>
                </a:lnTo>
                <a:lnTo>
                  <a:pt x="6954151" y="4973272"/>
                </a:lnTo>
                <a:lnTo>
                  <a:pt x="0" y="4973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82851" y="4027323"/>
            <a:ext cx="10153700" cy="3858406"/>
          </a:xfrm>
          <a:custGeom>
            <a:avLst/>
            <a:gdLst/>
            <a:ahLst/>
            <a:cxnLst/>
            <a:rect r="r" b="b" t="t" l="l"/>
            <a:pathLst>
              <a:path h="3858406" w="10153700">
                <a:moveTo>
                  <a:pt x="0" y="0"/>
                </a:moveTo>
                <a:lnTo>
                  <a:pt x="10153700" y="0"/>
                </a:lnTo>
                <a:lnTo>
                  <a:pt x="10153700" y="3858406"/>
                </a:lnTo>
                <a:lnTo>
                  <a:pt x="0" y="3858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8259" y="86251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7448" y="4114561"/>
            <a:ext cx="5436655" cy="360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2"/>
              </a:lnSpc>
            </a:pPr>
            <a:r>
              <a:rPr lang="en-US" b="true" sz="4101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Built Partial least squares (PLS) regression model on a chemometrics software named SOLO.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22294"/>
            <a:ext cx="7601195" cy="5436006"/>
          </a:xfrm>
          <a:custGeom>
            <a:avLst/>
            <a:gdLst/>
            <a:ahLst/>
            <a:cxnLst/>
            <a:rect r="r" b="b" t="t" l="l"/>
            <a:pathLst>
              <a:path h="5436006" w="7601195">
                <a:moveTo>
                  <a:pt x="0" y="0"/>
                </a:moveTo>
                <a:lnTo>
                  <a:pt x="7601195" y="0"/>
                </a:lnTo>
                <a:lnTo>
                  <a:pt x="7601195" y="5436006"/>
                </a:lnTo>
                <a:lnTo>
                  <a:pt x="0" y="5436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395940"/>
            <a:ext cx="8098188" cy="8387954"/>
          </a:xfrm>
          <a:custGeom>
            <a:avLst/>
            <a:gdLst/>
            <a:ahLst/>
            <a:cxnLst/>
            <a:rect r="r" b="b" t="t" l="l"/>
            <a:pathLst>
              <a:path h="8387954" w="8098188">
                <a:moveTo>
                  <a:pt x="0" y="0"/>
                </a:moveTo>
                <a:lnTo>
                  <a:pt x="8098188" y="0"/>
                </a:lnTo>
                <a:lnTo>
                  <a:pt x="8098188" y="8387953"/>
                </a:lnTo>
                <a:lnTo>
                  <a:pt x="0" y="8387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23452" y="4397852"/>
            <a:ext cx="6611692" cy="420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sz="3980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Results for Model R2 Cross Validation score:</a:t>
            </a:r>
          </a:p>
          <a:p>
            <a:pPr algn="l" marL="859357" indent="-429679" lvl="1">
              <a:lnSpc>
                <a:spcPts val="5572"/>
              </a:lnSpc>
              <a:buAutoNum type="arabicPeriod" startAt="1"/>
            </a:pPr>
            <a:r>
              <a:rPr lang="en-US" b="true" sz="3980">
                <a:solidFill>
                  <a:srgbClr val="B20000"/>
                </a:solidFill>
                <a:latin typeface="Cairo Bold"/>
                <a:ea typeface="Cairo Bold"/>
                <a:cs typeface="Cairo Bold"/>
                <a:sym typeface="Cairo Bold"/>
              </a:rPr>
              <a:t>Starch :              0.62</a:t>
            </a:r>
          </a:p>
          <a:p>
            <a:pPr algn="l" marL="859357" indent="-429679" lvl="1">
              <a:lnSpc>
                <a:spcPts val="5572"/>
              </a:lnSpc>
              <a:buAutoNum type="arabicPeriod" startAt="1"/>
            </a:pPr>
            <a:r>
              <a:rPr lang="en-US" b="true" sz="3980">
                <a:solidFill>
                  <a:srgbClr val="B20000"/>
                </a:solidFill>
                <a:latin typeface="Cairo Bold"/>
                <a:ea typeface="Cairo Bold"/>
                <a:cs typeface="Cairo Bold"/>
                <a:sym typeface="Cairo Bold"/>
              </a:rPr>
              <a:t>Protein:             0.74</a:t>
            </a:r>
          </a:p>
          <a:p>
            <a:pPr algn="l" marL="859357" indent="-429679" lvl="1">
              <a:lnSpc>
                <a:spcPts val="5572"/>
              </a:lnSpc>
              <a:buAutoNum type="arabicPeriod" startAt="1"/>
            </a:pPr>
            <a:r>
              <a:rPr lang="en-US" b="true" sz="3980">
                <a:solidFill>
                  <a:srgbClr val="B20000"/>
                </a:solidFill>
                <a:latin typeface="Cairo Bold"/>
                <a:ea typeface="Cairo Bold"/>
                <a:cs typeface="Cairo Bold"/>
                <a:sym typeface="Cairo Bold"/>
              </a:rPr>
              <a:t>Vitamin C :        0.17</a:t>
            </a:r>
          </a:p>
          <a:p>
            <a:pPr algn="l" marL="859357" indent="-429679" lvl="1">
              <a:lnSpc>
                <a:spcPts val="5572"/>
              </a:lnSpc>
              <a:buAutoNum type="arabicPeriod" startAt="1"/>
            </a:pPr>
            <a:r>
              <a:rPr lang="en-US" b="true" sz="3980">
                <a:solidFill>
                  <a:srgbClr val="B20000"/>
                </a:solidFill>
                <a:latin typeface="Cairo Bold"/>
                <a:ea typeface="Cairo Bold"/>
                <a:cs typeface="Cairo Bold"/>
                <a:sym typeface="Cairo Bold"/>
              </a:rPr>
              <a:t>Na₂SO₄ (Salt) :  0.23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7475" y="2240025"/>
            <a:ext cx="7471825" cy="660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3"/>
              </a:lnSpc>
              <a:spcBef>
                <a:spcPct val="0"/>
              </a:spcBef>
            </a:pPr>
            <a:r>
              <a:rPr lang="en-US" sz="4673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After the initial trial resulted in suboptimal model performance due to multicollinearity.</a:t>
            </a:r>
          </a:p>
          <a:p>
            <a:pPr algn="ctr">
              <a:lnSpc>
                <a:spcPts val="6543"/>
              </a:lnSpc>
              <a:spcBef>
                <a:spcPct val="0"/>
              </a:spcBef>
            </a:pPr>
          </a:p>
          <a:p>
            <a:pPr algn="ctr">
              <a:lnSpc>
                <a:spcPts val="6543"/>
              </a:lnSpc>
              <a:spcBef>
                <a:spcPct val="0"/>
              </a:spcBef>
            </a:pPr>
            <a:r>
              <a:rPr lang="en-US" sz="4673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a second experimental setup was designed to overcome previous issues.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68543"/>
            <a:ext cx="6989628" cy="4998643"/>
          </a:xfrm>
          <a:custGeom>
            <a:avLst/>
            <a:gdLst/>
            <a:ahLst/>
            <a:cxnLst/>
            <a:rect r="r" b="b" t="t" l="l"/>
            <a:pathLst>
              <a:path h="4998643" w="6989628">
                <a:moveTo>
                  <a:pt x="0" y="0"/>
                </a:moveTo>
                <a:lnTo>
                  <a:pt x="6989628" y="0"/>
                </a:lnTo>
                <a:lnTo>
                  <a:pt x="6989628" y="4998643"/>
                </a:lnTo>
                <a:lnTo>
                  <a:pt x="0" y="499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7900" y="3017655"/>
            <a:ext cx="7623467" cy="5949531"/>
          </a:xfrm>
          <a:custGeom>
            <a:avLst/>
            <a:gdLst/>
            <a:ahLst/>
            <a:cxnLst/>
            <a:rect r="r" b="b" t="t" l="l"/>
            <a:pathLst>
              <a:path h="5949531" w="7623467">
                <a:moveTo>
                  <a:pt x="0" y="0"/>
                </a:moveTo>
                <a:lnTo>
                  <a:pt x="7623467" y="0"/>
                </a:lnTo>
                <a:lnTo>
                  <a:pt x="7623467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7430" y="4834128"/>
            <a:ext cx="6058248" cy="318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b="true" sz="4528" strike="noStrike" u="non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Achieved an average inter-variable correlation of approximately 0.0217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6621259" cy="4735203"/>
          </a:xfrm>
          <a:custGeom>
            <a:avLst/>
            <a:gdLst/>
            <a:ahLst/>
            <a:cxnLst/>
            <a:rect r="r" b="b" t="t" l="l"/>
            <a:pathLst>
              <a:path h="4735203" w="6621259">
                <a:moveTo>
                  <a:pt x="0" y="0"/>
                </a:moveTo>
                <a:lnTo>
                  <a:pt x="6621259" y="0"/>
                </a:lnTo>
                <a:lnTo>
                  <a:pt x="6621259" y="4735203"/>
                </a:lnTo>
                <a:lnTo>
                  <a:pt x="0" y="473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96194" y="192928"/>
            <a:ext cx="4629493" cy="3919587"/>
          </a:xfrm>
          <a:custGeom>
            <a:avLst/>
            <a:gdLst/>
            <a:ahLst/>
            <a:cxnLst/>
            <a:rect r="r" b="b" t="t" l="l"/>
            <a:pathLst>
              <a:path h="3919587" w="4629493">
                <a:moveTo>
                  <a:pt x="0" y="0"/>
                </a:moveTo>
                <a:lnTo>
                  <a:pt x="4629493" y="0"/>
                </a:lnTo>
                <a:lnTo>
                  <a:pt x="4629493" y="3919587"/>
                </a:lnTo>
                <a:lnTo>
                  <a:pt x="0" y="39195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91731" y="4608175"/>
            <a:ext cx="6838420" cy="4650125"/>
          </a:xfrm>
          <a:custGeom>
            <a:avLst/>
            <a:gdLst/>
            <a:ahLst/>
            <a:cxnLst/>
            <a:rect r="r" b="b" t="t" l="l"/>
            <a:pathLst>
              <a:path h="4650125" w="6838420">
                <a:moveTo>
                  <a:pt x="0" y="0"/>
                </a:moveTo>
                <a:lnTo>
                  <a:pt x="6838419" y="0"/>
                </a:lnTo>
                <a:lnTo>
                  <a:pt x="6838419" y="4650125"/>
                </a:lnTo>
                <a:lnTo>
                  <a:pt x="0" y="4650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1067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Scope of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875" y="4172574"/>
            <a:ext cx="5788908" cy="364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4"/>
              </a:lnSpc>
            </a:pPr>
            <a:r>
              <a:rPr lang="en-US" b="true" sz="4145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Built Partial least squares (PLS) machine learning model based on the obtained X and Y labels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8093963" cy="5788410"/>
          </a:xfrm>
          <a:custGeom>
            <a:avLst/>
            <a:gdLst/>
            <a:ahLst/>
            <a:cxnLst/>
            <a:rect r="r" b="b" t="t" l="l"/>
            <a:pathLst>
              <a:path h="5788410" w="8093963">
                <a:moveTo>
                  <a:pt x="0" y="0"/>
                </a:moveTo>
                <a:lnTo>
                  <a:pt x="8093963" y="0"/>
                </a:lnTo>
                <a:lnTo>
                  <a:pt x="8093963" y="5788410"/>
                </a:lnTo>
                <a:lnTo>
                  <a:pt x="0" y="578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8245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46122" y="4100003"/>
            <a:ext cx="5659118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6023D"/>
                </a:solidFill>
                <a:latin typeface="Cairo Bold"/>
                <a:ea typeface="Cairo Bold"/>
                <a:cs typeface="Cairo Bold"/>
                <a:sym typeface="Cairo Bold"/>
              </a:rPr>
              <a:t>Results for Model R2 Cross Validation score:</a:t>
            </a:r>
          </a:p>
          <a:p>
            <a:pPr algn="l">
              <a:lnSpc>
                <a:spcPts val="5040"/>
              </a:lnSpc>
            </a:pP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06971D"/>
                </a:solidFill>
                <a:latin typeface="Cairo Bold"/>
                <a:ea typeface="Cairo Bold"/>
                <a:cs typeface="Cairo Bold"/>
                <a:sym typeface="Cairo Bold"/>
              </a:rPr>
              <a:t>Starch :              0.92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06971D"/>
                </a:solidFill>
                <a:latin typeface="Cairo Bold"/>
                <a:ea typeface="Cairo Bold"/>
                <a:cs typeface="Cairo Bold"/>
                <a:sym typeface="Cairo Bold"/>
              </a:rPr>
              <a:t>Protein:             0.86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06971D"/>
                </a:solidFill>
                <a:latin typeface="Cairo Bold"/>
                <a:ea typeface="Cairo Bold"/>
                <a:cs typeface="Cairo Bold"/>
                <a:sym typeface="Cairo Bold"/>
              </a:rPr>
              <a:t>Vitamin C :        0.91</a:t>
            </a:r>
          </a:p>
          <a:p>
            <a:pPr algn="l" marL="777242" indent="-388621" lvl="1">
              <a:lnSpc>
                <a:spcPts val="5040"/>
              </a:lnSpc>
              <a:buAutoNum type="arabicPeriod" startAt="1"/>
            </a:pPr>
            <a:r>
              <a:rPr lang="en-US" b="true" sz="3600">
                <a:solidFill>
                  <a:srgbClr val="06971D"/>
                </a:solidFill>
                <a:latin typeface="Cairo Bold"/>
                <a:ea typeface="Cairo Bold"/>
                <a:cs typeface="Cairo Bold"/>
                <a:sym typeface="Cairo Bold"/>
              </a:rPr>
              <a:t>Na₂SO₄ (Salt) :  0.75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7475" y="2720883"/>
            <a:ext cx="7884316" cy="71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3"/>
              </a:lnSpc>
              <a:spcBef>
                <a:spcPct val="0"/>
              </a:spcBef>
            </a:pPr>
            <a:r>
              <a:rPr lang="en-US" b="true" sz="4673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Mod</a:t>
            </a:r>
            <a:r>
              <a:rPr lang="en-US" b="true" sz="4673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el Improvement Factors:</a:t>
            </a:r>
          </a:p>
          <a:p>
            <a:pPr algn="l" marL="1009037" indent="-504519" lvl="1">
              <a:lnSpc>
                <a:spcPts val="7290"/>
              </a:lnSpc>
              <a:buAutoNum type="arabicPeriod" startAt="1"/>
            </a:pPr>
            <a:r>
              <a:rPr lang="en-US" sz="4673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Generated new samples without mass constraints.</a:t>
            </a:r>
          </a:p>
          <a:p>
            <a:pPr algn="l" marL="1009037" indent="-504519" lvl="1">
              <a:lnSpc>
                <a:spcPts val="7290"/>
              </a:lnSpc>
              <a:buAutoNum type="arabicPeriod" startAt="1"/>
            </a:pPr>
            <a:r>
              <a:rPr lang="en-US" sz="4673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Increased dataset size to 60 using oversampling.</a:t>
            </a:r>
          </a:p>
          <a:p>
            <a:pPr algn="l" marL="1009037" indent="-504519" lvl="1">
              <a:lnSpc>
                <a:spcPts val="7290"/>
              </a:lnSpc>
              <a:buAutoNum type="arabicPeriod" startAt="1"/>
            </a:pPr>
            <a:r>
              <a:rPr lang="en-US" sz="4673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Applied proper preprocessing</a:t>
            </a:r>
          </a:p>
          <a:p>
            <a:pPr algn="ctr">
              <a:lnSpc>
                <a:spcPts val="65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69890"/>
            <a:ext cx="8093963" cy="5788410"/>
          </a:xfrm>
          <a:custGeom>
            <a:avLst/>
            <a:gdLst/>
            <a:ahLst/>
            <a:cxnLst/>
            <a:rect r="r" b="b" t="t" l="l"/>
            <a:pathLst>
              <a:path h="5788410" w="8093963">
                <a:moveTo>
                  <a:pt x="0" y="0"/>
                </a:moveTo>
                <a:lnTo>
                  <a:pt x="8093963" y="0"/>
                </a:lnTo>
                <a:lnTo>
                  <a:pt x="8093963" y="5788410"/>
                </a:lnTo>
                <a:lnTo>
                  <a:pt x="0" y="578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685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8245" y="829796"/>
            <a:ext cx="902923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Results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573603" y="1677521"/>
            <a:ext cx="8312060" cy="8609479"/>
          </a:xfrm>
          <a:custGeom>
            <a:avLst/>
            <a:gdLst/>
            <a:ahLst/>
            <a:cxnLst/>
            <a:rect r="r" b="b" t="t" l="l"/>
            <a:pathLst>
              <a:path h="8609479" w="8312060">
                <a:moveTo>
                  <a:pt x="0" y="0"/>
                </a:moveTo>
                <a:lnTo>
                  <a:pt x="8312060" y="0"/>
                </a:lnTo>
                <a:lnTo>
                  <a:pt x="8312060" y="8609479"/>
                </a:lnTo>
                <a:lnTo>
                  <a:pt x="0" y="860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69309" y="2708590"/>
            <a:ext cx="7320649" cy="6547341"/>
          </a:xfrm>
          <a:custGeom>
            <a:avLst/>
            <a:gdLst/>
            <a:ahLst/>
            <a:cxnLst/>
            <a:rect r="r" b="b" t="t" l="l"/>
            <a:pathLst>
              <a:path h="6547341" w="7320649">
                <a:moveTo>
                  <a:pt x="0" y="0"/>
                </a:moveTo>
                <a:lnTo>
                  <a:pt x="7320648" y="0"/>
                </a:lnTo>
                <a:lnTo>
                  <a:pt x="7320648" y="6547341"/>
                </a:lnTo>
                <a:lnTo>
                  <a:pt x="0" y="6547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5161" y="4419090"/>
            <a:ext cx="5272860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PCA was applied to the full set of spectral data (20 spectra per device) to investigate hardware-induced variability (Backward compatibilty)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39850" y="3469890"/>
            <a:ext cx="9119450" cy="6521789"/>
          </a:xfrm>
          <a:custGeom>
            <a:avLst/>
            <a:gdLst/>
            <a:ahLst/>
            <a:cxnLst/>
            <a:rect r="r" b="b" t="t" l="l"/>
            <a:pathLst>
              <a:path h="6521789" w="9119450">
                <a:moveTo>
                  <a:pt x="0" y="0"/>
                </a:moveTo>
                <a:lnTo>
                  <a:pt x="9119450" y="0"/>
                </a:lnTo>
                <a:lnTo>
                  <a:pt x="9119450" y="6521789"/>
                </a:lnTo>
                <a:lnTo>
                  <a:pt x="0" y="6521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70285" y="857250"/>
            <a:ext cx="12378872" cy="154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Challenges &amp; 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642322" y="2850799"/>
            <a:ext cx="5139993" cy="314643"/>
          </a:xfrm>
          <a:custGeom>
            <a:avLst/>
            <a:gdLst/>
            <a:ahLst/>
            <a:cxnLst/>
            <a:rect r="r" b="b" t="t" l="l"/>
            <a:pathLst>
              <a:path h="314643" w="5139993">
                <a:moveTo>
                  <a:pt x="0" y="0"/>
                </a:moveTo>
                <a:lnTo>
                  <a:pt x="5139993" y="0"/>
                </a:lnTo>
                <a:lnTo>
                  <a:pt x="5139993" y="314643"/>
                </a:lnTo>
                <a:lnTo>
                  <a:pt x="0" y="314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45673" y="3924969"/>
            <a:ext cx="7907804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Relative small amount of spectrometers that were used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E</a:t>
            </a:r>
            <a:r>
              <a:rPr lang="en-US" sz="32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ach ingredient has different compostion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dealing with sensitve balance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6023D"/>
                </a:solidFill>
                <a:latin typeface="Cairo"/>
                <a:ea typeface="Cairo"/>
                <a:cs typeface="Cairo"/>
                <a:sym typeface="Cairo"/>
              </a:rPr>
              <a:t>the company`s ownership for the devices</a:t>
            </a:r>
          </a:p>
        </p:txBody>
      </p:sp>
      <p:grpSp>
        <p:nvGrpSpPr>
          <p:cNvPr name="Group 7" id="7"/>
          <p:cNvGrpSpPr/>
          <p:nvPr/>
        </p:nvGrpSpPr>
        <p:grpSpPr>
          <a:xfrm rot="7815377">
            <a:off x="1475057" y="6069191"/>
            <a:ext cx="4241069" cy="4066873"/>
            <a:chOff x="0" y="0"/>
            <a:chExt cx="5654759" cy="5422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98317" cy="3892114"/>
            </a:xfrm>
            <a:custGeom>
              <a:avLst/>
              <a:gdLst/>
              <a:ahLst/>
              <a:cxnLst/>
              <a:rect r="r" b="b" t="t" l="l"/>
              <a:pathLst>
                <a:path h="3892114" w="3898317">
                  <a:moveTo>
                    <a:pt x="0" y="0"/>
                  </a:moveTo>
                  <a:lnTo>
                    <a:pt x="3898317" y="0"/>
                  </a:lnTo>
                  <a:lnTo>
                    <a:pt x="3898317" y="3892114"/>
                  </a:lnTo>
                  <a:lnTo>
                    <a:pt x="0" y="38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56442" y="1530383"/>
              <a:ext cx="3898317" cy="3892114"/>
            </a:xfrm>
            <a:custGeom>
              <a:avLst/>
              <a:gdLst/>
              <a:ahLst/>
              <a:cxnLst/>
              <a:rect r="r" b="b" t="t" l="l"/>
              <a:pathLst>
                <a:path h="3892114" w="3898317">
                  <a:moveTo>
                    <a:pt x="0" y="0"/>
                  </a:moveTo>
                  <a:lnTo>
                    <a:pt x="3898317" y="0"/>
                  </a:lnTo>
                  <a:lnTo>
                    <a:pt x="3898317" y="3892114"/>
                  </a:lnTo>
                  <a:lnTo>
                    <a:pt x="0" y="38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314050" y="310949"/>
              <a:ext cx="3270217" cy="3270217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6AD92"/>
              </a:solidFill>
              <a:ln w="1047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70492" y="1946057"/>
              <a:ext cx="3270217" cy="3270217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7A034"/>
              </a:solidFill>
              <a:ln w="1047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-3822762">
            <a:off x="293398" y="1399495"/>
            <a:ext cx="5844293" cy="4381247"/>
            <a:chOff x="0" y="0"/>
            <a:chExt cx="7792390" cy="5841663"/>
          </a:xfrm>
        </p:grpSpPr>
        <p:sp>
          <p:nvSpPr>
            <p:cNvPr name="Freeform 17" id="17"/>
            <p:cNvSpPr/>
            <p:nvPr/>
          </p:nvSpPr>
          <p:spPr>
            <a:xfrm flipH="false" flipV="false" rot="7815377">
              <a:off x="3098515" y="799023"/>
              <a:ext cx="3898317" cy="3892114"/>
            </a:xfrm>
            <a:custGeom>
              <a:avLst/>
              <a:gdLst/>
              <a:ahLst/>
              <a:cxnLst/>
              <a:rect r="r" b="b" t="t" l="l"/>
              <a:pathLst>
                <a:path h="3892114" w="3898317">
                  <a:moveTo>
                    <a:pt x="0" y="0"/>
                  </a:moveTo>
                  <a:lnTo>
                    <a:pt x="3898317" y="0"/>
                  </a:lnTo>
                  <a:lnTo>
                    <a:pt x="3898317" y="3892114"/>
                  </a:lnTo>
                  <a:lnTo>
                    <a:pt x="0" y="38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7815377">
              <a:off x="795559" y="1150527"/>
              <a:ext cx="3898317" cy="3892114"/>
            </a:xfrm>
            <a:custGeom>
              <a:avLst/>
              <a:gdLst/>
              <a:ahLst/>
              <a:cxnLst/>
              <a:rect r="r" b="b" t="t" l="l"/>
              <a:pathLst>
                <a:path h="3892114" w="3898317">
                  <a:moveTo>
                    <a:pt x="0" y="0"/>
                  </a:moveTo>
                  <a:lnTo>
                    <a:pt x="3898316" y="0"/>
                  </a:lnTo>
                  <a:lnTo>
                    <a:pt x="3898316" y="3892114"/>
                  </a:lnTo>
                  <a:lnTo>
                    <a:pt x="0" y="3892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7815377">
              <a:off x="3412565" y="1109971"/>
              <a:ext cx="3270217" cy="3270217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7A034"/>
              </a:solidFill>
              <a:ln w="1047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6445727">
              <a:off x="1029686" y="1393801"/>
              <a:ext cx="3270217" cy="3270217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6AD92"/>
              </a:solidFill>
              <a:ln w="1047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590278" y="-4021837"/>
            <a:ext cx="13064771" cy="18330674"/>
          </a:xfrm>
          <a:custGeom>
            <a:avLst/>
            <a:gdLst/>
            <a:ahLst/>
            <a:cxnLst/>
            <a:rect r="r" b="b" t="t" l="l"/>
            <a:pathLst>
              <a:path h="18330674" w="13064771">
                <a:moveTo>
                  <a:pt x="0" y="0"/>
                </a:moveTo>
                <a:lnTo>
                  <a:pt x="13064771" y="0"/>
                </a:lnTo>
                <a:lnTo>
                  <a:pt x="13064771" y="18330674"/>
                </a:lnTo>
                <a:lnTo>
                  <a:pt x="0" y="18330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3390">
            <a:off x="133315" y="1209428"/>
            <a:ext cx="17996734" cy="7951284"/>
          </a:xfrm>
          <a:custGeom>
            <a:avLst/>
            <a:gdLst/>
            <a:ahLst/>
            <a:cxnLst/>
            <a:rect r="r" b="b" t="t" l="l"/>
            <a:pathLst>
              <a:path h="7951284" w="17996734">
                <a:moveTo>
                  <a:pt x="0" y="0"/>
                </a:moveTo>
                <a:lnTo>
                  <a:pt x="17996733" y="0"/>
                </a:lnTo>
                <a:lnTo>
                  <a:pt x="17996733" y="7951285"/>
                </a:lnTo>
                <a:lnTo>
                  <a:pt x="0" y="7951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051437" y="4957027"/>
            <a:ext cx="6092434" cy="372947"/>
          </a:xfrm>
          <a:custGeom>
            <a:avLst/>
            <a:gdLst/>
            <a:ahLst/>
            <a:cxnLst/>
            <a:rect r="r" b="b" t="t" l="l"/>
            <a:pathLst>
              <a:path h="372947" w="6092434">
                <a:moveTo>
                  <a:pt x="0" y="0"/>
                </a:moveTo>
                <a:lnTo>
                  <a:pt x="6092434" y="0"/>
                </a:lnTo>
                <a:lnTo>
                  <a:pt x="6092434" y="372946"/>
                </a:lnTo>
                <a:lnTo>
                  <a:pt x="0" y="372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01594" y="6461263"/>
            <a:ext cx="3742582" cy="1052601"/>
          </a:xfrm>
          <a:custGeom>
            <a:avLst/>
            <a:gdLst/>
            <a:ahLst/>
            <a:cxnLst/>
            <a:rect r="r" b="b" t="t" l="l"/>
            <a:pathLst>
              <a:path h="1052601" w="3742582">
                <a:moveTo>
                  <a:pt x="0" y="0"/>
                </a:moveTo>
                <a:lnTo>
                  <a:pt x="3742582" y="0"/>
                </a:lnTo>
                <a:lnTo>
                  <a:pt x="3742582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8637" y="2512099"/>
            <a:ext cx="3468496" cy="3468496"/>
          </a:xfrm>
          <a:custGeom>
            <a:avLst/>
            <a:gdLst/>
            <a:ahLst/>
            <a:cxnLst/>
            <a:rect r="r" b="b" t="t" l="l"/>
            <a:pathLst>
              <a:path h="3468496" w="3468496">
                <a:moveTo>
                  <a:pt x="0" y="0"/>
                </a:moveTo>
                <a:lnTo>
                  <a:pt x="3468496" y="0"/>
                </a:lnTo>
                <a:lnTo>
                  <a:pt x="3468496" y="3468496"/>
                </a:lnTo>
                <a:lnTo>
                  <a:pt x="0" y="34684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60674" y="4854411"/>
            <a:ext cx="2621082" cy="2522814"/>
            <a:chOff x="30480" y="591820"/>
            <a:chExt cx="12736830" cy="12259310"/>
          </a:xfrm>
        </p:grpSpPr>
        <p:sp>
          <p:nvSpPr>
            <p:cNvPr name="Freeform 8" id="8">
              <a:hlinkClick r:id="rId10" tooltip="https://www.linkedin.com/in/salmaelfeel/"/>
            </p:cNvPr>
            <p:cNvSpPr/>
            <p:nvPr/>
          </p:nvSpPr>
          <p:spPr>
            <a:xfrm flipH="false" flipV="false" rot="0">
              <a:off x="64261" y="240734"/>
              <a:ext cx="12517576" cy="11526913"/>
            </a:xfrm>
            <a:custGeom>
              <a:avLst/>
              <a:gdLst/>
              <a:ahLst/>
              <a:cxnLst/>
              <a:rect r="r" b="b" t="t" l="l"/>
              <a:pathLst>
                <a:path h="11526913" w="12517576">
                  <a:moveTo>
                    <a:pt x="11861039" y="4030276"/>
                  </a:moveTo>
                  <a:cubicBezTo>
                    <a:pt x="10754869" y="1880166"/>
                    <a:pt x="8526019" y="304096"/>
                    <a:pt x="6151119" y="56446"/>
                  </a:cubicBezTo>
                  <a:cubicBezTo>
                    <a:pt x="4213099" y="-240734"/>
                    <a:pt x="2938019" y="672396"/>
                    <a:pt x="1896619" y="1929696"/>
                  </a:cubicBezTo>
                  <a:cubicBezTo>
                    <a:pt x="855219" y="3186996"/>
                    <a:pt x="301499" y="4789736"/>
                    <a:pt x="77979" y="6406446"/>
                  </a:cubicBezTo>
                  <a:cubicBezTo>
                    <a:pt x="-40131" y="7259886"/>
                    <a:pt x="-64261" y="8165396"/>
                    <a:pt x="297689" y="8947716"/>
                  </a:cubicBezTo>
                  <a:cubicBezTo>
                    <a:pt x="756159" y="9939586"/>
                    <a:pt x="1758189" y="10570776"/>
                    <a:pt x="2777999" y="10963206"/>
                  </a:cubicBezTo>
                  <a:cubicBezTo>
                    <a:pt x="5521199" y="12018576"/>
                    <a:pt x="8889240" y="11609636"/>
                    <a:pt x="11024109" y="9587796"/>
                  </a:cubicBezTo>
                  <a:cubicBezTo>
                    <a:pt x="11692129" y="8955336"/>
                    <a:pt x="12239499" y="8162856"/>
                    <a:pt x="12435079" y="7263696"/>
                  </a:cubicBezTo>
                  <a:cubicBezTo>
                    <a:pt x="12672569" y="6172766"/>
                    <a:pt x="12371579" y="5023416"/>
                    <a:pt x="11861039" y="4030276"/>
                  </a:cubicBezTo>
                  <a:close/>
                </a:path>
              </a:pathLst>
            </a:custGeom>
            <a:blipFill>
              <a:blip r:embed="rId11"/>
              <a:stretch>
                <a:fillRect l="-103047" t="-53403" r="-37729" b="-10806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12471" y="4857910"/>
            <a:ext cx="2572665" cy="2572665"/>
            <a:chOff x="0" y="0"/>
            <a:chExt cx="12700000" cy="12700000"/>
          </a:xfrm>
        </p:grpSpPr>
        <p:sp>
          <p:nvSpPr>
            <p:cNvPr name="Freeform 10" id="10">
              <a:hlinkClick r:id="rId12" tooltip="https://www.linkedin.com/in/rowaina-reda/"/>
            </p:cNvPr>
            <p:cNvSpPr/>
            <p:nvPr/>
          </p:nvSpPr>
          <p:spPr>
            <a:xfrm flipH="false" flipV="false" rot="0">
              <a:off x="125908" y="857250"/>
              <a:ext cx="12396490" cy="11506076"/>
            </a:xfrm>
            <a:custGeom>
              <a:avLst/>
              <a:gdLst/>
              <a:ahLst/>
              <a:cxnLst/>
              <a:rect r="r" b="b" t="t" l="l"/>
              <a:pathLst>
                <a:path h="11506076" w="12396490">
                  <a:moveTo>
                    <a:pt x="10015042" y="938530"/>
                  </a:moveTo>
                  <a:cubicBezTo>
                    <a:pt x="8825052" y="189230"/>
                    <a:pt x="8506282" y="154940"/>
                    <a:pt x="7108012" y="0"/>
                  </a:cubicBezTo>
                  <a:cubicBezTo>
                    <a:pt x="3902532" y="38100"/>
                    <a:pt x="1304112" y="1889760"/>
                    <a:pt x="298272" y="4933950"/>
                  </a:cubicBezTo>
                  <a:cubicBezTo>
                    <a:pt x="-45898" y="5975350"/>
                    <a:pt x="-137338" y="7139940"/>
                    <a:pt x="266522" y="8159750"/>
                  </a:cubicBezTo>
                  <a:cubicBezTo>
                    <a:pt x="797382" y="9499600"/>
                    <a:pt x="2116912" y="10407650"/>
                    <a:pt x="3511372" y="10773410"/>
                  </a:cubicBezTo>
                  <a:cubicBezTo>
                    <a:pt x="4905832" y="11140440"/>
                    <a:pt x="6441262" y="11644630"/>
                    <a:pt x="7871282" y="11470640"/>
                  </a:cubicBezTo>
                  <a:cubicBezTo>
                    <a:pt x="8986342" y="11334750"/>
                    <a:pt x="10100132" y="10519410"/>
                    <a:pt x="10934522" y="9767570"/>
                  </a:cubicBezTo>
                  <a:cubicBezTo>
                    <a:pt x="11488242" y="9268460"/>
                    <a:pt x="11833682" y="8576310"/>
                    <a:pt x="12064822" y="7867650"/>
                  </a:cubicBezTo>
                  <a:cubicBezTo>
                    <a:pt x="12872542" y="5401310"/>
                    <a:pt x="12210872" y="2322830"/>
                    <a:pt x="10015042" y="938530"/>
                  </a:cubicBezTo>
                  <a:close/>
                </a:path>
              </a:pathLst>
            </a:custGeom>
            <a:blipFill>
              <a:blip r:embed="rId13"/>
              <a:stretch>
                <a:fillRect l="-38772" t="-131944" r="-51865" b="-4190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50605" y="2168041"/>
            <a:ext cx="6808887" cy="187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26"/>
              </a:lnSpc>
            </a:pPr>
            <a:r>
              <a:rPr lang="en-US" sz="10947" b="true">
                <a:solidFill>
                  <a:srgbClr val="000000"/>
                </a:solidFill>
                <a:latin typeface="Cairo Bold"/>
                <a:ea typeface="Cairo Bold"/>
                <a:cs typeface="Cairo Bold"/>
                <a:sym typeface="Cairo Bold"/>
              </a:rPr>
              <a:t>Thank you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0674" y="7468675"/>
            <a:ext cx="294216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Salma Bassem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3094" y="7468675"/>
            <a:ext cx="276952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Row</a:t>
            </a:r>
            <a:r>
              <a:rPr lang="en-US" sz="3000">
                <a:solidFill>
                  <a:srgbClr val="000000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aina Reda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77649" y="4079711"/>
            <a:ext cx="269266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Prepared  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DAGthYeCJ08</dc:identifier>
  <dcterms:modified xsi:type="dcterms:W3CDTF">2011-08-01T06:04:30Z</dcterms:modified>
  <cp:revision>1</cp:revision>
  <dc:title>ML-Based Calibration set for FTIR Backward Compatibility</dc:title>
</cp:coreProperties>
</file>